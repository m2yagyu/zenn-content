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5" r:id="rId1"/>
  </p:sldMasterIdLst>
  <p:notesMasterIdLst>
    <p:notesMasterId r:id="rId13"/>
  </p:notesMasterIdLst>
  <p:sldIdLst>
    <p:sldId id="256" r:id="rId2"/>
    <p:sldId id="3530" r:id="rId3"/>
    <p:sldId id="3549" r:id="rId4"/>
    <p:sldId id="3550" r:id="rId5"/>
    <p:sldId id="3557" r:id="rId6"/>
    <p:sldId id="3556" r:id="rId7"/>
    <p:sldId id="3555" r:id="rId8"/>
    <p:sldId id="3558" r:id="rId9"/>
    <p:sldId id="3560" r:id="rId10"/>
    <p:sldId id="3553" r:id="rId11"/>
    <p:sldId id="3559" r:id="rId12"/>
  </p:sldIdLst>
  <p:sldSz cx="9906000" cy="6858000" type="A4"/>
  <p:notesSz cx="6858000" cy="9144000"/>
  <p:defaultTextStyle>
    <a:defPPr>
      <a:defRPr lang="en-US"/>
    </a:defPPr>
    <a:lvl1pPr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432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淡色スタイル 1 - アクセント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940675A-B579-460E-94D1-54222C63F5DA}" styleName="スタイルなし、表のグリッド線あり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7039" autoAdjust="0"/>
    <p:restoredTop sz="96301" autoAdjust="0"/>
  </p:normalViewPr>
  <p:slideViewPr>
    <p:cSldViewPr snapToGrid="0" showGuides="1">
      <p:cViewPr varScale="1">
        <p:scale>
          <a:sx n="118" d="100"/>
          <a:sy n="118" d="100"/>
        </p:scale>
        <p:origin x="920" y="192"/>
      </p:cViewPr>
      <p:guideLst>
        <p:guide orient="horz" pos="2137"/>
        <p:guide pos="3120"/>
      </p:guideLst>
    </p:cSldViewPr>
  </p:slideViewPr>
  <p:outlineViewPr>
    <p:cViewPr>
      <p:scale>
        <a:sx n="33" d="100"/>
        <a:sy n="33" d="100"/>
      </p:scale>
      <p:origin x="0" y="-18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-19421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5F86FA-6348-4651-99A9-0D9CD61BD506}" type="datetimeFigureOut">
              <a:rPr kumimoji="1" lang="ja-JP" altLang="en-US" smtClean="0"/>
              <a:t>2026/7/21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9C8A62-71FF-49EC-8ED1-5762266E91A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44375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>
          <a:xfrm>
            <a:off x="1200150" y="1143000"/>
            <a:ext cx="4457700" cy="3086100"/>
          </a:xfrm>
        </p:spPr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ja-JP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9C8A62-71FF-49EC-8ED1-5762266E91A6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2765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ja-JP"/>
              <a:t>「人間が報酬ルールを設計し、環境はそのルールに従って報酬を返す。エージェントはその報酬をもとに行動を学習する。」</a:t>
            </a:r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9C8A62-71FF-49EC-8ED1-5762266E91A6}" type="slidenum">
              <a:rPr kumimoji="1" lang="ja-JP" altLang="en-US" smtClean="0"/>
              <a:t>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88011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表紙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6">
            <a:extLst>
              <a:ext uri="{FF2B5EF4-FFF2-40B4-BE49-F238E27FC236}">
                <a16:creationId xmlns:a16="http://schemas.microsoft.com/office/drawing/2014/main" id="{F74E2376-2F14-21B8-1B14-09D7382F43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29012" y="60325"/>
            <a:ext cx="3811208" cy="820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2388198"/>
            <a:ext cx="8420100" cy="867764"/>
          </a:xfrm>
        </p:spPr>
        <p:txBody>
          <a:bodyPr>
            <a:normAutofit/>
          </a:bodyPr>
          <a:lstStyle>
            <a:lvl1pPr algn="ctr">
              <a:defRPr sz="4400" baseline="0">
                <a:solidFill>
                  <a:schemeClr val="tx1"/>
                </a:solidFill>
                <a:latin typeface="Calibri Light" panose="020F0302020204030204" pitchFamily="34" charset="0"/>
                <a:ea typeface="メイリオ" panose="020B0604030504040204" pitchFamily="50" charset="-128"/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42950" y="3353696"/>
            <a:ext cx="8420099" cy="577308"/>
          </a:xfrm>
        </p:spPr>
        <p:txBody>
          <a:bodyPr anchor="ctr"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57370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コンテンツ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6">
            <a:extLst>
              <a:ext uri="{FF2B5EF4-FFF2-40B4-BE49-F238E27FC236}">
                <a16:creationId xmlns:a16="http://schemas.microsoft.com/office/drawing/2014/main" id="{1224FEA0-D045-53FA-E8F6-97E1ECED20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185" y="6347552"/>
            <a:ext cx="4095873" cy="4882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テキスト ボックス 8">
            <a:extLst>
              <a:ext uri="{FF2B5EF4-FFF2-40B4-BE49-F238E27FC236}">
                <a16:creationId xmlns:a16="http://schemas.microsoft.com/office/drawing/2014/main" id="{5C22386C-6478-4822-7595-CF26DB6AC2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22531" y="6497639"/>
            <a:ext cx="713284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fld id="{5AC7AA66-52D6-411D-AB12-B889C519B234}" type="slidenum">
              <a:rPr kumimoji="1" lang="ja-JP" altLang="en-US" sz="1600"/>
              <a:pPr algn="ctr" eaLnBrk="1" hangingPunct="1"/>
              <a:t>‹#›</a:t>
            </a:fld>
            <a:endParaRPr kumimoji="1" lang="ja-JP" altLang="en-US" sz="1600"/>
          </a:p>
        </p:txBody>
      </p:sp>
      <p:sp>
        <p:nvSpPr>
          <p:cNvPr id="7" name="コンテンツ プレースホルダー 6"/>
          <p:cNvSpPr>
            <a:spLocks noGrp="1"/>
          </p:cNvSpPr>
          <p:nvPr>
            <p:ph sz="quarter" idx="10"/>
          </p:nvPr>
        </p:nvSpPr>
        <p:spPr>
          <a:xfrm>
            <a:off x="492103" y="1421297"/>
            <a:ext cx="8762469" cy="4808068"/>
          </a:xfrm>
        </p:spPr>
        <p:txBody>
          <a:bodyPr/>
          <a:lstStyle>
            <a:lvl1pPr>
              <a:defRPr>
                <a:latin typeface="メイリオ" panose="020B0604030504040204" pitchFamily="50" charset="-128"/>
                <a:ea typeface="メイリオ" panose="020B0604030504040204" pitchFamily="50" charset="-128"/>
              </a:defRPr>
            </a:lvl1pPr>
            <a:lvl2pPr>
              <a:defRPr>
                <a:latin typeface="メイリオ" panose="020B0604030504040204" pitchFamily="50" charset="-128"/>
                <a:ea typeface="メイリオ" panose="020B0604030504040204" pitchFamily="50" charset="-128"/>
              </a:defRPr>
            </a:lvl2pPr>
            <a:lvl3pPr>
              <a:defRPr>
                <a:latin typeface="メイリオ" panose="020B0604030504040204" pitchFamily="50" charset="-128"/>
                <a:ea typeface="メイリオ" panose="020B0604030504040204" pitchFamily="50" charset="-128"/>
              </a:defRPr>
            </a:lvl3pPr>
            <a:lvl4pPr>
              <a:defRPr>
                <a:latin typeface="メイリオ" panose="020B0604030504040204" pitchFamily="50" charset="-128"/>
                <a:ea typeface="メイリオ" panose="020B0604030504040204" pitchFamily="50" charset="-128"/>
              </a:defRPr>
            </a:lvl4pPr>
            <a:lvl5pPr>
              <a:defRPr>
                <a:latin typeface="メイリオ" panose="020B0604030504040204" pitchFamily="50" charset="-128"/>
                <a:ea typeface="メイリオ" panose="020B0604030504040204" pitchFamily="50" charset="-128"/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ja-JP" altLang="en-US" dirty="0"/>
          </a:p>
        </p:txBody>
      </p:sp>
      <p:sp>
        <p:nvSpPr>
          <p:cNvPr id="9" name="タイトル 8"/>
          <p:cNvSpPr>
            <a:spLocks noGrp="1"/>
          </p:cNvSpPr>
          <p:nvPr>
            <p:ph type="title"/>
          </p:nvPr>
        </p:nvSpPr>
        <p:spPr>
          <a:xfrm>
            <a:off x="352820" y="260941"/>
            <a:ext cx="9061077" cy="672146"/>
          </a:xfrm>
        </p:spPr>
        <p:txBody>
          <a:bodyPr/>
          <a:lstStyle>
            <a:lvl1pPr>
              <a:defRPr sz="3600" b="0">
                <a:solidFill>
                  <a:schemeClr val="accent4">
                    <a:lumMod val="7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ja-JP" altLang="en-US" dirty="0"/>
          </a:p>
        </p:txBody>
      </p:sp>
      <p:cxnSp>
        <p:nvCxnSpPr>
          <p:cNvPr id="10" name="カギ線コネクタ 9">
            <a:extLst>
              <a:ext uri="{FF2B5EF4-FFF2-40B4-BE49-F238E27FC236}">
                <a16:creationId xmlns:a16="http://schemas.microsoft.com/office/drawing/2014/main" id="{828C959C-8A7F-E066-0112-4C9D00BFE5D0}"/>
              </a:ext>
            </a:extLst>
          </p:cNvPr>
          <p:cNvCxnSpPr>
            <a:cxnSpLocks/>
          </p:cNvCxnSpPr>
          <p:nvPr userDrawn="1"/>
        </p:nvCxnSpPr>
        <p:spPr>
          <a:xfrm>
            <a:off x="233680" y="260940"/>
            <a:ext cx="9132652" cy="6086612"/>
          </a:xfrm>
          <a:prstGeom prst="bentConnector3">
            <a:avLst>
              <a:gd name="adj1" fmla="val 49"/>
            </a:avLst>
          </a:prstGeom>
          <a:ln w="57150">
            <a:solidFill>
              <a:srgbClr val="0432FF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カギ線コネクタ 13">
            <a:extLst>
              <a:ext uri="{FF2B5EF4-FFF2-40B4-BE49-F238E27FC236}">
                <a16:creationId xmlns:a16="http://schemas.microsoft.com/office/drawing/2014/main" id="{9C8B97B4-756D-C79F-F64A-017119DFADEA}"/>
              </a:ext>
            </a:extLst>
          </p:cNvPr>
          <p:cNvCxnSpPr>
            <a:cxnSpLocks/>
          </p:cNvCxnSpPr>
          <p:nvPr userDrawn="1"/>
        </p:nvCxnSpPr>
        <p:spPr>
          <a:xfrm>
            <a:off x="512425" y="1025949"/>
            <a:ext cx="9043712" cy="5458725"/>
          </a:xfrm>
          <a:prstGeom prst="bentConnector3">
            <a:avLst>
              <a:gd name="adj1" fmla="val 100217"/>
            </a:avLst>
          </a:prstGeom>
          <a:ln w="57150">
            <a:solidFill>
              <a:srgbClr val="0432FF"/>
            </a:solidFill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379393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コンテンツ２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6">
            <a:extLst>
              <a:ext uri="{FF2B5EF4-FFF2-40B4-BE49-F238E27FC236}">
                <a16:creationId xmlns:a16="http://schemas.microsoft.com/office/drawing/2014/main" id="{A3347A21-BE43-6DD6-114D-A25799F5AB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579" y="96839"/>
            <a:ext cx="3073698" cy="377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" name="直線コネクタ 2">
            <a:extLst>
              <a:ext uri="{FF2B5EF4-FFF2-40B4-BE49-F238E27FC236}">
                <a16:creationId xmlns:a16="http://schemas.microsoft.com/office/drawing/2014/main" id="{7CF97C28-0515-C9D2-D8FE-5AB6BCD202AA}"/>
              </a:ext>
            </a:extLst>
          </p:cNvPr>
          <p:cNvCxnSpPr/>
          <p:nvPr/>
        </p:nvCxnSpPr>
        <p:spPr>
          <a:xfrm>
            <a:off x="423069" y="554038"/>
            <a:ext cx="9059863" cy="0"/>
          </a:xfrm>
          <a:prstGeom prst="line">
            <a:avLst/>
          </a:prstGeom>
          <a:ln w="3175">
            <a:solidFill>
              <a:srgbClr val="0070C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テキスト ボックス 8">
            <a:extLst>
              <a:ext uri="{FF2B5EF4-FFF2-40B4-BE49-F238E27FC236}">
                <a16:creationId xmlns:a16="http://schemas.microsoft.com/office/drawing/2014/main" id="{077FD29C-4E2C-495D-8ADD-7DA4DB3D4B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97003" y="6489700"/>
            <a:ext cx="711994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fld id="{C29613B4-5A36-4963-B8F5-8C3E60071BA5}" type="slidenum">
              <a:rPr kumimoji="1" lang="ja-JP" altLang="en-US" sz="1600"/>
              <a:pPr algn="ctr" eaLnBrk="1" hangingPunct="1"/>
              <a:t>‹#›</a:t>
            </a:fld>
            <a:endParaRPr kumimoji="1" lang="ja-JP" altLang="en-US" sz="1600"/>
          </a:p>
        </p:txBody>
      </p:sp>
    </p:spTree>
    <p:extLst>
      <p:ext uri="{BB962C8B-B14F-4D97-AF65-F5344CB8AC3E}">
        <p14:creationId xmlns:p14="http://schemas.microsoft.com/office/powerpoint/2010/main" val="14955840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エンドページ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6">
            <a:extLst>
              <a:ext uri="{FF2B5EF4-FFF2-40B4-BE49-F238E27FC236}">
                <a16:creationId xmlns:a16="http://schemas.microsoft.com/office/drawing/2014/main" id="{A51EAE1C-14DB-8B65-99EF-75C32C33A3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1979" y="2928939"/>
            <a:ext cx="4744045" cy="1000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714057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1038" y="1354928"/>
            <a:ext cx="8543925" cy="4942523"/>
          </a:xfrm>
        </p:spPr>
        <p:txBody>
          <a:bodyPr/>
          <a:lstStyle>
            <a:lvl1pPr>
              <a:defRPr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defRPr>
            </a:lvl1pPr>
            <a:lvl2pPr>
              <a:defRPr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defRPr>
            </a:lvl2pPr>
            <a:lvl3pPr>
              <a:defRPr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defRPr>
            </a:lvl3pPr>
            <a:lvl4pPr>
              <a:defRPr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defRPr>
            </a:lvl4pPr>
            <a:lvl5pPr>
              <a:defRPr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65389A-50FA-453E-A38B-EADDAD4086AB}" type="datetimeFigureOut">
              <a:rPr kumimoji="1" lang="ja-JP" altLang="en-US" smtClean="0"/>
              <a:t>2026/7/21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/>
            </a:lvl1pPr>
          </a:lstStyle>
          <a:p>
            <a:fld id="{21DD319E-2327-404B-8DC4-E9C440076B7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571206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6896AB8E-8801-F2D6-6E39-1024B58CB19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1038" y="365126"/>
            <a:ext cx="8543925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マスター タイトルの書式設定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E4D80552-1B2C-2176-6AD0-18642213851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1038" y="1825625"/>
            <a:ext cx="8543925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60DF87-B640-A1EE-01C5-66A3E61B42E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81038" y="6356351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kumimoji="1" sz="1200" smtClean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0765389A-50FA-453E-A38B-EADDAD4086AB}" type="datetimeFigureOut">
              <a:rPr kumimoji="1" lang="ja-JP" altLang="en-US" smtClean="0"/>
              <a:t>2026/7/21</a:t>
            </a:fld>
            <a:endParaRPr kumimoji="1" lang="ja-JP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06CB22-5203-0DC4-9B95-7A0905F05A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81363" y="6356351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kumimoji="1"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7C9992-D674-6BBB-FA5C-3844460D6E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96113" y="6356351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kumimoji="1" sz="1200" smtClean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21DD319E-2327-404B-8DC4-E9C440076B7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827352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09" r:id="rId4"/>
    <p:sldLayoutId id="2147483710" r:id="rId5"/>
  </p:sldLayoutIdLst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 Light" panose="020F0302020204030204" pitchFamily="34" charset="0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 Light" panose="020F0302020204030204" pitchFamily="34" charset="0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 Light" panose="020F0302020204030204" pitchFamily="34" charset="0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 Light" panose="020F0302020204030204" pitchFamily="34" charset="0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 Light" panose="020F0302020204030204" pitchFamily="34" charset="0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 Light" panose="020F0302020204030204" pitchFamily="34" charset="0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 Light" panose="020F0302020204030204" pitchFamily="34" charset="0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228600" indent="-228600" algn="l" rtl="0" eaLnBrk="1" fontAlgn="base" hangingPunct="1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umimoji="1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umimoji="1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12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95F550F-C368-A398-BB1B-5628F0EC08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2949" y="2285021"/>
            <a:ext cx="8420100" cy="1958547"/>
          </a:xfrm>
        </p:spPr>
        <p:txBody>
          <a:bodyPr>
            <a:normAutofit/>
          </a:bodyPr>
          <a:lstStyle/>
          <a:p>
            <a:r>
              <a:rPr lang="ja-JP" altLang="en-US" sz="3600" b="1">
                <a:solidFill>
                  <a:schemeClr val="accent4">
                    <a:lumMod val="75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情報学</a:t>
            </a:r>
            <a:r>
              <a:rPr lang="en-US" altLang="ja-JP" sz="3600" b="1" dirty="0">
                <a:solidFill>
                  <a:schemeClr val="accent4">
                    <a:lumMod val="75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Ⅰ</a:t>
            </a:r>
            <a:br>
              <a:rPr lang="en-US" altLang="ja-JP" sz="3600" b="1" dirty="0">
                <a:solidFill>
                  <a:schemeClr val="accent4">
                    <a:lumMod val="75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rPr>
            </a:br>
            <a:br>
              <a:rPr lang="en-US" altLang="ja-JP" sz="3600" b="1" dirty="0">
                <a:solidFill>
                  <a:schemeClr val="accent4">
                    <a:lumMod val="75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rPr>
            </a:br>
            <a:r>
              <a:rPr lang="ja-JP" altLang="en-US" sz="3600" b="1">
                <a:solidFill>
                  <a:schemeClr val="accent4">
                    <a:lumMod val="75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第</a:t>
            </a:r>
            <a:r>
              <a:rPr lang="en-US" altLang="ja-JP" sz="3600" b="1" dirty="0">
                <a:solidFill>
                  <a:schemeClr val="accent4">
                    <a:lumMod val="75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14</a:t>
            </a:r>
            <a:r>
              <a:rPr lang="ja-JP" altLang="en-US" sz="3600" b="1">
                <a:solidFill>
                  <a:schemeClr val="accent4">
                    <a:lumMod val="75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回</a:t>
            </a:r>
            <a:r>
              <a:rPr lang="en-US" altLang="ja-JP" sz="3600" b="1" dirty="0">
                <a:solidFill>
                  <a:schemeClr val="accent4">
                    <a:lumMod val="75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 </a:t>
            </a:r>
            <a:r>
              <a:rPr lang="ja-JP" altLang="en-US" sz="3600" b="1">
                <a:solidFill>
                  <a:schemeClr val="accent4">
                    <a:lumMod val="75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座学編</a:t>
            </a:r>
            <a:endParaRPr kumimoji="1" lang="ja-JP" altLang="en-US" sz="2400" dirty="0">
              <a:solidFill>
                <a:schemeClr val="accent4">
                  <a:lumMod val="75000"/>
                </a:schemeClr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4482C135-1831-671E-1E62-1DF530F7A4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42950" y="4246537"/>
            <a:ext cx="8420099" cy="1141010"/>
          </a:xfrm>
        </p:spPr>
        <p:txBody>
          <a:bodyPr/>
          <a:lstStyle/>
          <a:p>
            <a:pPr algn="r"/>
            <a:r>
              <a:rPr kumimoji="1" lang="ja-JP" altLang="en-US">
                <a:latin typeface="Meiryo" panose="020B0604030504040204" pitchFamily="34" charset="-128"/>
                <a:ea typeface="Meiryo" panose="020B0604030504040204" pitchFamily="34" charset="-128"/>
              </a:rPr>
              <a:t>情報デザイン学部</a:t>
            </a:r>
            <a:r>
              <a:rPr kumimoji="1" lang="en-US" altLang="ja-JP" dirty="0">
                <a:latin typeface="Meiryo" panose="020B0604030504040204" pitchFamily="34" charset="-128"/>
                <a:ea typeface="Meiryo" panose="020B0604030504040204" pitchFamily="34" charset="-128"/>
              </a:rPr>
              <a:t> </a:t>
            </a:r>
            <a:r>
              <a:rPr kumimoji="1" lang="ja-JP" altLang="en-US">
                <a:latin typeface="Meiryo" panose="020B0604030504040204" pitchFamily="34" charset="-128"/>
                <a:ea typeface="Meiryo" panose="020B0604030504040204" pitchFamily="34" charset="-128"/>
              </a:rPr>
              <a:t>情報デザイン学科</a:t>
            </a:r>
            <a:endParaRPr kumimoji="1" lang="en-US" altLang="ja-JP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algn="r"/>
            <a:r>
              <a:rPr lang="ja-JP" altLang="en-US">
                <a:latin typeface="Meiryo" panose="020B0604030504040204" pitchFamily="34" charset="-128"/>
                <a:ea typeface="Meiryo" panose="020B0604030504040204" pitchFamily="34" charset="-128"/>
              </a:rPr>
              <a:t>柳生 光義</a:t>
            </a:r>
            <a:endParaRPr kumimoji="1" lang="en-US" altLang="ja-JP" b="1" dirty="0">
              <a:latin typeface="Courier New" panose="02070309020205020404" pitchFamily="49" charset="0"/>
              <a:ea typeface="Meiryo" panose="020B0604030504040204" pitchFamily="34" charset="-128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61505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コンテンツ プレースホルダー 1">
            <a:extLst>
              <a:ext uri="{FF2B5EF4-FFF2-40B4-BE49-F238E27FC236}">
                <a16:creationId xmlns:a16="http://schemas.microsoft.com/office/drawing/2014/main" id="{745223E8-BCD4-F593-1610-086A571C1A2E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kumimoji="1" lang="ja-JP" altLang="en-US"/>
              <a:t>スマホで回答しよう</a:t>
            </a:r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6A04A497-D7DA-783E-B690-1A162785AC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出席アンケート</a:t>
            </a:r>
            <a:endParaRPr kumimoji="1" lang="ja-JP" altLang="en-US"/>
          </a:p>
        </p:txBody>
      </p:sp>
      <p:pic>
        <p:nvPicPr>
          <p:cNvPr id="4" name="図 3" descr="グラフィカル ユーザー インターフェイス, アプリケーション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7D5B90EB-F5CE-7EAC-EBB9-0D5BC3A95A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0640" y="1653890"/>
            <a:ext cx="3146879" cy="4583790"/>
          </a:xfrm>
          <a:prstGeom prst="rect">
            <a:avLst/>
          </a:prstGeom>
        </p:spPr>
      </p:pic>
      <p:sp>
        <p:nvSpPr>
          <p:cNvPr id="5" name="角丸四角形 4">
            <a:extLst>
              <a:ext uri="{FF2B5EF4-FFF2-40B4-BE49-F238E27FC236}">
                <a16:creationId xmlns:a16="http://schemas.microsoft.com/office/drawing/2014/main" id="{5133536D-1B1C-676C-548C-60196C65FD71}"/>
              </a:ext>
            </a:extLst>
          </p:cNvPr>
          <p:cNvSpPr/>
          <p:nvPr/>
        </p:nvSpPr>
        <p:spPr>
          <a:xfrm>
            <a:off x="5933769" y="2719190"/>
            <a:ext cx="3082565" cy="1008668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4E8CC68A-1EBF-3F7D-7C15-DC6856F781CE}"/>
              </a:ext>
            </a:extLst>
          </p:cNvPr>
          <p:cNvSpPr txBox="1"/>
          <p:nvPr/>
        </p:nvSpPr>
        <p:spPr>
          <a:xfrm>
            <a:off x="4709214" y="3756139"/>
            <a:ext cx="3010939" cy="64633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kumimoji="1" lang="ja-JP" altLang="en-US" b="1">
                <a:solidFill>
                  <a:srgbClr val="FF0000"/>
                </a:solidFill>
              </a:rPr>
              <a:t>大学アドレスとパスワードでサインインすると良い．</a:t>
            </a: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5C4A70A7-D01A-546C-F0E4-CBBEBDD4172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2103" y="2009899"/>
            <a:ext cx="4138810" cy="4138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97833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07E5B6-2D54-77A2-EA06-D5232455DB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コンテンツ プレースホルダー 1">
            <a:extLst>
              <a:ext uri="{FF2B5EF4-FFF2-40B4-BE49-F238E27FC236}">
                <a16:creationId xmlns:a16="http://schemas.microsoft.com/office/drawing/2014/main" id="{60AC788A-BEB5-0553-12BC-07C1DA307A39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kumimoji="1" lang="en-US" altLang="ja-JP" dirty="0"/>
              <a:t>1-6-1 </a:t>
            </a:r>
            <a:r>
              <a:rPr kumimoji="1" lang="ja-JP" altLang="en-US"/>
              <a:t>データ・</a:t>
            </a:r>
            <a:r>
              <a:rPr kumimoji="1" lang="en-US" altLang="ja-JP" dirty="0"/>
              <a:t>AI</a:t>
            </a:r>
            <a:r>
              <a:rPr kumimoji="1" lang="ja-JP" altLang="en-US"/>
              <a:t>を活用した最新のビジネスモデル</a:t>
            </a:r>
            <a:endParaRPr kumimoji="1" lang="en-US" altLang="ja-JP" dirty="0"/>
          </a:p>
          <a:p>
            <a:r>
              <a:rPr lang="en-US" altLang="ja-JP" dirty="0">
                <a:solidFill>
                  <a:schemeClr val="bg2">
                    <a:lumMod val="90000"/>
                  </a:schemeClr>
                </a:solidFill>
              </a:rPr>
              <a:t>1-6-2 AI</a:t>
            </a:r>
            <a:r>
              <a:rPr lang="ja-JP" altLang="en-US">
                <a:solidFill>
                  <a:schemeClr val="bg2">
                    <a:lumMod val="90000"/>
                  </a:schemeClr>
                </a:solidFill>
              </a:rPr>
              <a:t>を活用した最新の技術や関連用語</a:t>
            </a:r>
            <a:endParaRPr kumimoji="1" lang="ja-JP" altLang="en-US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E98CC42B-0B7C-4D77-E399-D64A070DCE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sz="2800" b="1" dirty="0"/>
              <a:t>1-6 </a:t>
            </a:r>
            <a:r>
              <a:rPr lang="ja-JP" altLang="en-US" sz="2800" b="1"/>
              <a:t>データ・</a:t>
            </a:r>
            <a:r>
              <a:rPr lang="en-US" altLang="ja-JP" sz="2800" b="1" dirty="0"/>
              <a:t>AI</a:t>
            </a:r>
            <a:r>
              <a:rPr lang="ja-JP" altLang="en-US" sz="2800" b="1"/>
              <a:t>利活用の最新動向</a:t>
            </a:r>
            <a:endParaRPr kumimoji="1" lang="ja-JP" altLang="en-US" sz="2800"/>
          </a:p>
        </p:txBody>
      </p:sp>
    </p:spTree>
    <p:extLst>
      <p:ext uri="{BB962C8B-B14F-4D97-AF65-F5344CB8AC3E}">
        <p14:creationId xmlns:p14="http://schemas.microsoft.com/office/powerpoint/2010/main" val="37858285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コンテンツ プレースホルダー 1">
            <a:extLst>
              <a:ext uri="{FF2B5EF4-FFF2-40B4-BE49-F238E27FC236}">
                <a16:creationId xmlns:a16="http://schemas.microsoft.com/office/drawing/2014/main" id="{EC99645C-9690-1D8A-27F2-48800B89558F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68899D40-CDB3-03F9-F4B3-E6B79A5AF3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概要</a:t>
            </a:r>
          </a:p>
        </p:txBody>
      </p:sp>
      <p:pic>
        <p:nvPicPr>
          <p:cNvPr id="4" name="図 3" descr="ダイアグラム&#10;&#10;AI 生成コンテンツは誤りを含む可能性があります。">
            <a:extLst>
              <a:ext uri="{FF2B5EF4-FFF2-40B4-BE49-F238E27FC236}">
                <a16:creationId xmlns:a16="http://schemas.microsoft.com/office/drawing/2014/main" id="{AEDA73E7-BC06-CFB9-E600-C02E87F2AA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9714" y="1421297"/>
            <a:ext cx="8186571" cy="4649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94714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9209E727-80A3-C4B8-F9E9-D46BAB9B4857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01700" y="1067065"/>
            <a:ext cx="7819627" cy="52130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タイトル 2">
            <a:extLst>
              <a:ext uri="{FF2B5EF4-FFF2-40B4-BE49-F238E27FC236}">
                <a16:creationId xmlns:a16="http://schemas.microsoft.com/office/drawing/2014/main" id="{9CD0F808-A855-B895-2136-F72931496E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シェアリングエコノミー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63110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2A95DECE-A848-EE76-1715-C12C94197E2D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54101" y="1192213"/>
            <a:ext cx="7505302" cy="50035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タイトル 2">
            <a:extLst>
              <a:ext uri="{FF2B5EF4-FFF2-40B4-BE49-F238E27FC236}">
                <a16:creationId xmlns:a16="http://schemas.microsoft.com/office/drawing/2014/main" id="{A5463145-36C2-678A-2D8F-FAEFCAD790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レコメンデーション</a:t>
            </a:r>
          </a:p>
        </p:txBody>
      </p:sp>
    </p:spTree>
    <p:extLst>
      <p:ext uri="{BB962C8B-B14F-4D97-AF65-F5344CB8AC3E}">
        <p14:creationId xmlns:p14="http://schemas.microsoft.com/office/powerpoint/2010/main" val="39848178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9363D4-A4E8-0041-C090-6FE2B176B6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コンテンツ プレースホルダー 1">
            <a:extLst>
              <a:ext uri="{FF2B5EF4-FFF2-40B4-BE49-F238E27FC236}">
                <a16:creationId xmlns:a16="http://schemas.microsoft.com/office/drawing/2014/main" id="{824010C3-8B2C-04EB-F748-A1A34F9F3FC1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kumimoji="1" lang="en-US" altLang="ja-JP" dirty="0">
                <a:solidFill>
                  <a:schemeClr val="bg2">
                    <a:lumMod val="90000"/>
                  </a:schemeClr>
                </a:solidFill>
              </a:rPr>
              <a:t>1-6-1 </a:t>
            </a:r>
            <a:r>
              <a:rPr kumimoji="1" lang="ja-JP" altLang="en-US">
                <a:solidFill>
                  <a:schemeClr val="bg2">
                    <a:lumMod val="90000"/>
                  </a:schemeClr>
                </a:solidFill>
              </a:rPr>
              <a:t>データ・</a:t>
            </a:r>
            <a:r>
              <a:rPr kumimoji="1" lang="en-US" altLang="ja-JP" dirty="0">
                <a:solidFill>
                  <a:schemeClr val="bg2">
                    <a:lumMod val="90000"/>
                  </a:schemeClr>
                </a:solidFill>
              </a:rPr>
              <a:t>AI</a:t>
            </a:r>
            <a:r>
              <a:rPr kumimoji="1" lang="ja-JP" altLang="en-US">
                <a:solidFill>
                  <a:schemeClr val="bg2">
                    <a:lumMod val="90000"/>
                  </a:schemeClr>
                </a:solidFill>
              </a:rPr>
              <a:t>を活用した最新のビジネスモデル</a:t>
            </a:r>
            <a:endParaRPr kumimoji="1" lang="en-US" altLang="ja-JP" dirty="0">
              <a:solidFill>
                <a:schemeClr val="bg2">
                  <a:lumMod val="90000"/>
                </a:schemeClr>
              </a:solidFill>
            </a:endParaRPr>
          </a:p>
          <a:p>
            <a:r>
              <a:rPr lang="en-US" altLang="ja-JP" dirty="0"/>
              <a:t>1-6-2 AI</a:t>
            </a:r>
            <a:r>
              <a:rPr lang="ja-JP" altLang="en-US"/>
              <a:t>を活用した最新の技術や関連用語</a:t>
            </a:r>
            <a:endParaRPr kumimoji="1" lang="ja-JP" altLang="en-US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39116654-A136-E027-988C-671F984C55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sz="2800" b="1" dirty="0"/>
              <a:t>1-6 </a:t>
            </a:r>
            <a:r>
              <a:rPr lang="ja-JP" altLang="en-US" sz="2800" b="1"/>
              <a:t>データ・</a:t>
            </a:r>
            <a:r>
              <a:rPr lang="en-US" altLang="ja-JP" sz="2800" b="1" dirty="0"/>
              <a:t>AI</a:t>
            </a:r>
            <a:r>
              <a:rPr lang="ja-JP" altLang="en-US" sz="2800" b="1"/>
              <a:t>利活用の最新動向</a:t>
            </a:r>
            <a:endParaRPr kumimoji="1" lang="ja-JP" altLang="en-US" sz="2800"/>
          </a:p>
        </p:txBody>
      </p:sp>
    </p:spTree>
    <p:extLst>
      <p:ext uri="{BB962C8B-B14F-4D97-AF65-F5344CB8AC3E}">
        <p14:creationId xmlns:p14="http://schemas.microsoft.com/office/powerpoint/2010/main" val="34452436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23EFAB-8C8B-B0CA-4D18-065440EE17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タイトル 2">
            <a:extLst>
              <a:ext uri="{FF2B5EF4-FFF2-40B4-BE49-F238E27FC236}">
                <a16:creationId xmlns:a16="http://schemas.microsoft.com/office/drawing/2014/main" id="{35B8D079-0DAD-484F-184D-F56A93D95D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強化学習</a:t>
            </a:r>
          </a:p>
        </p:txBody>
      </p:sp>
      <p:pic>
        <p:nvPicPr>
          <p:cNvPr id="12" name="図 11">
            <a:extLst>
              <a:ext uri="{FF2B5EF4-FFF2-40B4-BE49-F238E27FC236}">
                <a16:creationId xmlns:a16="http://schemas.microsoft.com/office/drawing/2014/main" id="{97DECB24-5520-1212-C511-3F4ACAE2900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" y="1124527"/>
            <a:ext cx="7772400" cy="518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90142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7908ED-B882-E4DC-DD9E-5BC54820DF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タイトル 2">
            <a:extLst>
              <a:ext uri="{FF2B5EF4-FFF2-40B4-BE49-F238E27FC236}">
                <a16:creationId xmlns:a16="http://schemas.microsoft.com/office/drawing/2014/main" id="{3FF1BDF6-B15B-F6D5-0A04-12D0A9AA32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教師あり学習</a:t>
            </a:r>
          </a:p>
        </p:txBody>
      </p:sp>
      <p:pic>
        <p:nvPicPr>
          <p:cNvPr id="49" name="図 48">
            <a:extLst>
              <a:ext uri="{FF2B5EF4-FFF2-40B4-BE49-F238E27FC236}">
                <a16:creationId xmlns:a16="http://schemas.microsoft.com/office/drawing/2014/main" id="{28005925-4F10-5CB8-2881-429E959BD8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1" y="1084941"/>
            <a:ext cx="7772400" cy="518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73653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A993CD-6F4D-8A48-DFCC-4368395BAA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タイトル 2">
            <a:extLst>
              <a:ext uri="{FF2B5EF4-FFF2-40B4-BE49-F238E27FC236}">
                <a16:creationId xmlns:a16="http://schemas.microsoft.com/office/drawing/2014/main" id="{13D96AB3-A027-8866-76CD-A67F4997F2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教師なし学習</a:t>
            </a:r>
          </a:p>
        </p:txBody>
      </p:sp>
      <p:pic>
        <p:nvPicPr>
          <p:cNvPr id="10" name="図 9">
            <a:extLst>
              <a:ext uri="{FF2B5EF4-FFF2-40B4-BE49-F238E27FC236}">
                <a16:creationId xmlns:a16="http://schemas.microsoft.com/office/drawing/2014/main" id="{D0ABC564-0D68-2B73-5384-3DA722B4B9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" y="1106715"/>
            <a:ext cx="7772400" cy="518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84469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65A3A0-F723-71AA-9E40-AA61115A4E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タイトル 2">
            <a:extLst>
              <a:ext uri="{FF2B5EF4-FFF2-40B4-BE49-F238E27FC236}">
                <a16:creationId xmlns:a16="http://schemas.microsoft.com/office/drawing/2014/main" id="{8727683E-2DC8-4954-E237-69E2781FF1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拡散モデル</a:t>
            </a:r>
          </a:p>
        </p:txBody>
      </p:sp>
    </p:spTree>
    <p:extLst>
      <p:ext uri="{BB962C8B-B14F-4D97-AF65-F5344CB8AC3E}">
        <p14:creationId xmlns:p14="http://schemas.microsoft.com/office/powerpoint/2010/main" val="525957875"/>
      </p:ext>
    </p:extLst>
  </p:cSld>
  <p:clrMapOvr>
    <a:masterClrMapping/>
  </p:clrMapOvr>
</p:sld>
</file>

<file path=ppt/theme/theme1.xml><?xml version="1.0" encoding="utf-8"?>
<a:theme xmlns:a="http://schemas.openxmlformats.org/drawingml/2006/main" name="910-010 VI-PP">
  <a:themeElements>
    <a:clrScheme name="Office テーマ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テーマ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20241129Komatsu.pptx" id="{524F784D-3F08-41D5-9ABA-093F0973FD30}" vid="{FD46783E-76A7-4610-BFFD-9C7E0BCB7794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2024BLUEGOLD</Template>
  <TotalTime>2813</TotalTime>
  <Words>136</Words>
  <Application>Microsoft Macintosh PowerPoint</Application>
  <PresentationFormat>A4 210 x 297 mm</PresentationFormat>
  <Paragraphs>22</Paragraphs>
  <Slides>11</Slides>
  <Notes>2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8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11</vt:i4>
      </vt:variant>
    </vt:vector>
  </HeadingPairs>
  <TitlesOfParts>
    <vt:vector size="20" baseType="lpstr">
      <vt:lpstr>UD デジタル 教科書体 NP-R</vt:lpstr>
      <vt:lpstr>Meiryo</vt:lpstr>
      <vt:lpstr>Meiryo</vt:lpstr>
      <vt:lpstr>游ゴシック</vt:lpstr>
      <vt:lpstr>Arial</vt:lpstr>
      <vt:lpstr>Calibri</vt:lpstr>
      <vt:lpstr>Calibri Light</vt:lpstr>
      <vt:lpstr>Courier New</vt:lpstr>
      <vt:lpstr>910-010 VI-PP</vt:lpstr>
      <vt:lpstr>情報学Ⅰ  第14回 座学編</vt:lpstr>
      <vt:lpstr>出席アンケート</vt:lpstr>
      <vt:lpstr>1-6 データ・AI利活用の最新動向</vt:lpstr>
      <vt:lpstr>概要</vt:lpstr>
      <vt:lpstr>シェアリングエコノミー</vt:lpstr>
      <vt:lpstr>レコメンデーション</vt:lpstr>
      <vt:lpstr>1-6 データ・AI利活用の最新動向</vt:lpstr>
      <vt:lpstr>強化学習</vt:lpstr>
      <vt:lpstr>教師あり学習</vt:lpstr>
      <vt:lpstr>教師なし学習</vt:lpstr>
      <vt:lpstr>拡散モデル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文子 小松</dc:creator>
  <cp:lastModifiedBy>柳生 光義</cp:lastModifiedBy>
  <cp:revision>374</cp:revision>
  <cp:lastPrinted>2025-09-15T09:19:11Z</cp:lastPrinted>
  <dcterms:created xsi:type="dcterms:W3CDTF">2025-03-10T02:04:42Z</dcterms:created>
  <dcterms:modified xsi:type="dcterms:W3CDTF">2026-07-21T04:12:59Z</dcterms:modified>
</cp:coreProperties>
</file>